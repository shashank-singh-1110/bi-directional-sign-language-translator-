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40080"/>
            <a:ext cx="2103120" cy="2103120"/>
          </a:xfrm>
          <a:prstGeom prst="ellipse">
            <a:avLst/>
          </a:prstGeom>
          <a:solidFill>
            <a:srgbClr val="0A9396">
              <a:alpha val="20000"/>
            </a:srgbClr>
          </a:solidFill>
          <a:ln w="1905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914400"/>
            <a:ext cx="1554480" cy="1554480"/>
          </a:xfrm>
          <a:prstGeom prst="ellipse">
            <a:avLst/>
          </a:prstGeom>
          <a:solidFill>
            <a:srgbClr val="0A9396">
              <a:alpha val="4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✋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Bidirectional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E9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Language Translator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Sign-to-Speech  ·  Speech-to-Sign  ·  Real-Time  ·  Offline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999232"/>
            <a:ext cx="5486400" cy="27432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546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|  Computer Science &amp; Engineering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Holistic  ·  LSTM  ·  Python  ·  TensorFlow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95.24%  on 42 classes  ·  1,260 sequences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Bridging Communication Gaps for the Hearing &amp; Speech-Impaired Community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64592" cy="508863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0116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</a:rPr>
              <a:t>466M+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People with hearing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disability worldwide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(WHO, 2023)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868680"/>
            <a:ext cx="20116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86868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</a:rPr>
              <a:t>&lt;2%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96312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Can communicate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with sign 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interpreters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868680"/>
            <a:ext cx="20116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72584" y="86868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</a:rPr>
              <a:t>300+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72584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Sign languages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exist globally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(ASL, ISL, BSL...)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48856" y="868680"/>
            <a:ext cx="20116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48856" y="868680"/>
            <a:ext cx="201168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960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9396"/>
                </a:solidFill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48856" y="1600200"/>
            <a:ext cx="201168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Mainstream real-time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bidirectional 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available offline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85039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5420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346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Communication between the hearing-impaired and the general public remains a significant challenge. Most existing solutions are unidirectional — they either convert sign to text or text to sign, but not both. There is a critical need for a real-time, offline, bidirectional system that requires no specialised hardware.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822960"/>
          </a:xfrm>
          <a:prstGeom prst="rect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4164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D1B2A"/>
                </a:solidFill>
              </a:rPr>
              <a:t>Objective: Build a real-time bidirectional ASL translator — Sign→Speech using LSTM + MediaPipe, and Speech→Sign using Google STT + ASL GIF display — entirely offline, webcam-only, with 95.24% accuracy across 42 classes.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</a:rPr>
              <a:t>MODULE 1 — Sign to Speech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2344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Webcam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Capture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58191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207008"/>
            <a:ext cx="12344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MediaPipe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Holistic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58191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207008"/>
            <a:ext cx="1234440" cy="8686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15468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Landmark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258-dim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58191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207008"/>
            <a:ext cx="123444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LSTM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Model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158191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207008"/>
            <a:ext cx="1234440" cy="8686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Cosine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Tiebreaker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158191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207008"/>
            <a:ext cx="1234440" cy="8686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207008"/>
            <a:ext cx="12344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</a:rPr>
              <a:t>MODULE 2 — Speech to Sign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670048"/>
            <a:ext cx="150876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2670048"/>
            <a:ext cx="1508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Microphone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Input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304495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2670048"/>
            <a:ext cx="1508760" cy="868680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011680" y="2670048"/>
            <a:ext cx="1508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Google STT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(Online)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304495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2670048"/>
            <a:ext cx="150876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703320" y="2670048"/>
            <a:ext cx="1508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Parsing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12080" y="304495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2670048"/>
            <a:ext cx="150876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394960" y="2670048"/>
            <a:ext cx="1508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Word/Letter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Lookup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3044952"/>
            <a:ext cx="1828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2670048"/>
            <a:ext cx="1508760" cy="8686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086600" y="2670048"/>
            <a:ext cx="150876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ASL GIF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Display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8503920" cy="10058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Special Hardware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92024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Works Offline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3756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42 Sign Classes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Real-Time &lt; 100ms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7220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95.24% Accuracy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89520" y="3886200"/>
            <a:ext cx="228600" cy="22860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63840" y="3858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TTS + GIF Output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64592" cy="5088636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Work Accomplished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40690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978408"/>
            <a:ext cx="411480" cy="4114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978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Data Collection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Ayuraj dataset: 1,500 images/class for A–Z &amp; 0–9 (bucket strategy: 30 sequences × 50 images)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Grassknoted dataset: 3,000 images/class — used for problematic letters (A, B, H, U etc.)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Custom webcam recording: 30 sequences for all 6 gesture signs + confusing letters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Preserve-class strategy: webcam recordings protected from image-dataset overwrite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868680"/>
            <a:ext cx="406908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978408"/>
            <a:ext cx="411480" cy="411480"/>
          </a:xfrm>
          <a:prstGeom prst="ellipse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9784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4356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MediaPipe Holistic — initially 1,662-dim (pose + face + hands)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17556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Key contribution: Removed face landmarks → 258-dim (pose 132 + hands 126)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075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Face removal eliminated I LOVE YOU/Thanks confusion caused by similar facial positions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0060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Hand-presence validation filter — no hand = no prediction accepted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926080"/>
            <a:ext cx="40690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" y="3035808"/>
            <a:ext cx="411480" cy="4114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035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Model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2-layer LSTM (128→64) + Dense (64→32→42 classes), 255K parameters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813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Trained on 1,260 sequences — EarlyStopping, class weights, fixed random seeds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Multi-run training script (5 runs, best model auto-selected by val_loss)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453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Full dataset evaluation: 95.24% on 1,260 sequences — test split: 81.97%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40690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926080"/>
            <a:ext cx="40690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3035808"/>
            <a:ext cx="411480" cy="411480"/>
          </a:xfrm>
          <a:prstGeom prst="ellipse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30358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Inference Pipeline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Per-class thresholds: 60% for gesture signs, 85% for letters/numbers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381304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Cosine similarity tiebreaker: 126-dim hand-only sequence mean vs class mean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41330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Stability buffer (8 frames) + 2.5s cooldown to prevent transition noise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4531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Hand-presence check — prevents face/pose-only false positives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 &amp;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560320" cy="22860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95.24%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Full 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D2BD"/>
                </a:solidFill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1,260 sequences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42 classes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822960"/>
            <a:ext cx="1783080" cy="1097280"/>
          </a:xfrm>
          <a:prstGeom prst="rect">
            <a:avLst/>
          </a:prstGeom>
          <a:solidFill>
            <a:srgbClr val="EE9B00">
              <a:alpha val="85000"/>
            </a:srgbClr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8961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5468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Gesture Signs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(6 classes)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1783080" cy="1097280"/>
          </a:xfrm>
          <a:prstGeom prst="rect">
            <a:avLst/>
          </a:prstGeom>
          <a:solidFill>
            <a:srgbClr val="94D2BD">
              <a:alpha val="85000"/>
            </a:srgbClr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8961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99%+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Numbers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(0-9)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822960"/>
            <a:ext cx="1783080" cy="1097280"/>
          </a:xfrm>
          <a:prstGeom prst="rect">
            <a:avLst/>
          </a:prstGeom>
          <a:solidFill>
            <a:srgbClr val="E9D8A6">
              <a:alpha val="85000"/>
            </a:srgbClr>
          </a:solidFill>
          <a:ln w="12700">
            <a:solidFill>
              <a:srgbClr val="E9D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86600" y="89611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90%+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86600" y="1463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Letters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(A-Z)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1874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</a:rPr>
              <a:t>Comparison with Related Work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86000"/>
          <a:ext cx="8503920" cy="22860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137160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 / 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Bidirectional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3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Sundar &amp; Bagyammal (2022)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MediaPipe + LSTM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84.2%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Khartheesvar et al. (2024)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MediaPipe Holistic + LSTM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87.4%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IEEE 11019673 (2024)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MobileNetV2 + TFLite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80.5%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Gaikwad &amp; Admuthe (2024)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MediaPipe + LSTM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100%*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9396"/>
                          </a:solidFill>
                        </a:rPr>
                        <a:t>Our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9396"/>
                          </a:solidFill>
                        </a:rPr>
                        <a:t>MediaPipe + LSTM + Cosine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9B00"/>
                          </a:solidFill>
                        </a:rPr>
                        <a:t>95.24%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9B00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32004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* 9-class limited vocabulary only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64592" cy="508863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(Papers 1–5)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54864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22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[1]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82296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Sundar &amp; Bagyammal (2022) — Procedia Computer Science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060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Showed that MediaPipe landmark extraction + LSTM outperforms CNN on raw frames for ASL alphabets. Key insight: skeletal features are more invariant to lighting and background than pixel data.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230368" y="1060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A9396"/>
                </a:solidFill>
              </a:rPr>
              <a:t>Our work: Adopted MediaPipe + LSTM as our core architecture. Validated that landmark-based approach is superior to image-based classification for real-time systems.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193792" y="1069848"/>
            <a:ext cx="18288" cy="23774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0934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09344"/>
            <a:ext cx="54864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</a:rPr>
              <a:t>[2]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627632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Khartheesvar et al. (2024) — Multimedia Tools and Applications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" y="1865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Used full MediaPipe Holistic (pose + face + hands = 1,662-dim). Found that face landmarks capture grammatical markers in ISL but also introduced confusion between signs with similar facial expressions.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230368" y="1865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EE9B00"/>
                </a:solidFill>
              </a:rPr>
              <a:t>Our work: Their finding about face landmark noise directly motivated our key contribution — removing face features (1,662→258-dim), which eliminated I LOVE YOU/Thanks confusion and improved accuracy.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193792" y="1874520"/>
            <a:ext cx="18288" cy="23774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1401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14016"/>
            <a:ext cx="54864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[3]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2432304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Gaikwad &amp; Admuthe (2024) — Springer IJCACI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Demonstrated real-time sentence building using LSTM on word-level ASL. Used a stability buffer and cooldown mechanism to prevent flickering predictions during sign transitions.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230368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D1B2A"/>
                </a:solidFill>
              </a:rPr>
              <a:t>Our work: Adopted the stability buffer concept into our inference pipeline. Extended it with a per-class confidence threshold (60% gesture / 85% letters) to handle the wider 42-class vocabulary.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193792" y="2679192"/>
            <a:ext cx="18288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1868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18688"/>
            <a:ext cx="54864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[4]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23697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IEEE 11019673 (2024) — IEEE Xplore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" y="3474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First published bidirectional system — MobileNetV2 for sign recognition + Blender 3D animations for text-to-sign. Used image frames directly (not landmarks), requiring more compute and GPU.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230368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A9396"/>
                </a:solidFill>
              </a:rPr>
              <a:t>Our work: Inspired our bidirectional architecture. Chose landmark-based LSTM over their CNN approach to achieve offline capability and lower latency on CPU — surpassing their accuracy significantly.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193792" y="3483864"/>
            <a:ext cx="18288" cy="23774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233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23360"/>
            <a:ext cx="54864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416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</a:rPr>
              <a:t>[5]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04164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Navendu &amp; Sahula (2024) — TechRxiv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Hybrid LSTM-GRU outperformed pure LSTM by 2.1% on ISL. GRU gates helped retain context across longer signing sequences, especially for multi-handshape words.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230368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EE9B00"/>
                </a:solidFill>
              </a:rPr>
              <a:t>Our work: Noted LSTM-GRU hybrid as a future enhancement. Current LSTM at 95.24% already exceeds their accuracy, but hybrid architecture is planned for the extended vocabulary phase.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193792" y="4288536"/>
            <a:ext cx="18288" cy="23774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64592" cy="5088636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Literature Survey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(Papers 6–10)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54864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22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[6]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822960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Zhang &amp; Jiang (2024) — CMES: Computer Modeling in Engineering &amp; Sciences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1060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Comprehensive survey of 200+ SLR papers. Found that skeleton/landmark-based LSTM consistently outperforms CNN on raw frames for real-time recognition. Identified domain gap (training vs live position) as the primary challenge in deployment.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230368" y="1060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A9396"/>
                </a:solidFill>
              </a:rPr>
              <a:t>Our work: Directly confirmed our architectural choice. The domain gap finding motivated our webcam re-recording strategy — recording all gesture signs in the exact position used during demo.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193792" y="1069848"/>
            <a:ext cx="18288" cy="23774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60934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609344"/>
            <a:ext cx="54864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6276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</a:rPr>
              <a:t>[7]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1627632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Kothadiya et al. (2022) — IEEE Access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" y="18653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Vision Transformer achieved high accuracy but required GPU and batch inference — not suitable for real-time CPU deployment. Identified attention mechanism as key for distinguishing visually similar signs.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230368" y="1865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EE9B00"/>
                </a:solidFill>
              </a:rPr>
              <a:t>Our work: Validated our LSTM choice over transformer for CPU real-time constraint. Their attention finding motivated our cosine similarity tiebreaker — a lightweight alternative that resolves ambiguous similar signs.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5193792" y="1874520"/>
            <a:ext cx="18288" cy="23774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1401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14016"/>
            <a:ext cx="54864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4323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[8]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2432304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KhajehPourian &amp; Zarei (2024) — Scientific Reports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" y="2670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Hybrid CNN-LSTM architecture — CNN extracted per-frame spatial features, LSTM captured temporal motion. Found that using only the hand region (not full frame) significantly reduced confusion between similar signs.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230368" y="2670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D1B2A"/>
                </a:solidFill>
              </a:rPr>
              <a:t>Our work: Reinforced our decision to isolate hand features. Inspired our cosine tiebreaker to use hand-only (126-dim) vectors instead of full 258-dim — reducing noise from irrelevant pose variation.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193792" y="2679192"/>
            <a:ext cx="18288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21868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18688"/>
            <a:ext cx="54864" cy="7498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2369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9396"/>
                </a:solidFill>
              </a:rPr>
              <a:t>[9]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" y="3236976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Patel &amp; Patel (2024) — SSR-IJECE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" y="3474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LSTM with attention mechanism showed that dynamically weighting hand keypoints during classification improved discrimination between confusing sign pairs (e.g. similar finger positions in different signs).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5230368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0A9396"/>
                </a:solidFill>
              </a:rPr>
              <a:t>Our work: The per-keypoint weighting concept inspired our cosine similarity approach — comparing hand vector directions (not magnitudes) to break ties between high-confidence confused pairs like I LOVE YOU vs Yes.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5193792" y="3483864"/>
            <a:ext cx="18288" cy="23774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40233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4023360"/>
            <a:ext cx="54864" cy="7498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416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E9B00"/>
                </a:solidFill>
              </a:rPr>
              <a:t>[10]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04164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Farhan &amp; Madi (2022) — IEEE ICECOCS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4672" y="42793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1E293B"/>
                </a:solidFill>
              </a:rPr>
              <a:t>Finding: Studied real-time sign recognition across Arabic SL using MediaPipe. Found that detection rate (% of frames with hand detected) directly correlates with model accuracy — low detection = noisy training data.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230368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EE9B00"/>
                </a:solidFill>
              </a:rPr>
              <a:t>Our work: Directly informed our dataset quality strategy: implemented detection rate thresholds (&gt;60%), WEBCAM_CLASSES bypass, and fallback-free extraction to ensure clean training sequences.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193792" y="4288536"/>
            <a:ext cx="18288" cy="237744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874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A93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40690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9396"/>
                </a:solidFill>
              </a:rPr>
              <a:t>Frontend 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React.js / Flutter web frontend with live webcam feed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Real-time sentence display, history &amp; export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Mobile app (iOS / Android) with edge deployment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Beautiful UI replacing current OpenCV window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069080" cy="1874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E9B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68680"/>
            <a:ext cx="4069080" cy="64008"/>
          </a:xfrm>
          <a:prstGeom prst="rect">
            <a:avLst/>
          </a:prstGeom>
          <a:solidFill>
            <a:srgbClr val="EE9B00"/>
          </a:solidFill>
          <a:ln w="12700">
            <a:solidFill>
              <a:srgbClr val="EE9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9601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57800" y="9601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9B00"/>
                </a:solidFill>
              </a:rPr>
              <a:t>Extended Sign Vocabulary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173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Expand from 42 to 500+ ASL signs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373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Add Indian SL (ISL) and British SL (BSL)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0574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Dynamic motion signs using DTW or transformer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Two-hand complex signs and compound words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069080" cy="1874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D2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80360"/>
            <a:ext cx="4069080" cy="6400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4400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D2BD"/>
                </a:solidFill>
              </a:rPr>
              <a:t>Model Enhancements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429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Transformer / Attention mechanism (SignBERT-style)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49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Transfer learning from WLASL 2000-word dataset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3D Blender animation for richer text-to-sign 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LSTM-GRU hybrid for longer sequence memory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069080" cy="18745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9D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80360"/>
            <a:ext cx="4069080" cy="64008"/>
          </a:xfrm>
          <a:prstGeom prst="rect">
            <a:avLst/>
          </a:prstGeom>
          <a:solidFill>
            <a:srgbClr val="E9D8A6"/>
          </a:solidFill>
          <a:ln w="12700">
            <a:solidFill>
              <a:srgbClr val="E9D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57800" y="29718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D8A6"/>
                </a:solidFill>
              </a:rPr>
              <a:t>System Improvements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34290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NLP layer (T5-small) for grammatical sentence correction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7490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Multi-signer personalisation via fine-tuning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0600" y="4069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Ablation study: with/without face landmarks (paper)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3891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Cosine similarity weight optimisation per class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63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Immediate Next Steps: Frontend integration → Extended vocabulary → Ablation study publication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Real-Time Bidirectional Sign Language Translator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64592" cy="50886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9396"/>
                </a:solidFill>
              </a:rPr>
              <a:t>20 Scopus-Indexed Papers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[1]  B. Sundar and T. Bagyammal, "American Sign Language Recognition for Alphabets using MediaPipe and LSTM," Procedia Comput. Sci., vol. 215, pp. 642-651, 2022. DOI: 10.1016/j.procs.2022.12.066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1293876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[2]  G. Khartheesvar, M. Kumar, A. K. Yadav, and D. Yadav, "Automatic Indian Sign Language Recognition using MediaPipe Holistic and LSTM Network," Multimed. Tools Appl., vol. 83, pp. 58329-58348, 2024. DOI: 10.1007/s11042-023-17361-y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[3]  R. Gaikwad and L. Admuthe, "Real-Time Sign Language Recognition of Words and Sentence Generation using MediaPipe and LSTM," in Proc. IJCACI 2022, Springer, 2024, pp. 287-297. DOI: 10.1007/978-981-97-0180-3_23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" y="2089404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[4]  Anonymous, "Real-Time Bidirectional Sign Language Translation System using MobileNetV2 and Flutter," IEEE Xplore, 2024. DOI: 10.1109/11019673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[5]  P. Navendu and V. Sahula, "Word Level Sign Language Recognition using MediaPipe and LSTM-GRU Network," TechRxiv, 2024. DOI: 10.36227/techrxiv.173406049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0040" y="2884932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[6]  Y. Zhang and X. Jiang, "Recent Advances on Deep Learning for Sign Language Recognition," Comput. Model. Eng. Sci., vol. 139, no. 3, pp. 2399-2450, 2024. DOI: 10.32604/cmes.2023.045731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0040" y="3282696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[7]  D. R. Kothadiya et al., "DeepSign: Sign Language Detection and Recognition Using Deep Learning," Electronics, vol. 11, no. 11, p. 1780, 2022. DOI: 10.3390/electronics11111780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3680460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[8]  D. KhajehPourian and A. D. Zarei, "Sign Language Recognition using Modified Deep Learning Network: CNNSa-LSTM," Sci. Rep., vol. 14, 2024. DOI: 10.1038/s41598-024-76174-7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" y="4078224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[9]  D. R. Kothadiya et al., "SIGNFORMER: DeepVision Transformer for Sign Language Recognition," IEEE Access, vol. 11, pp. 4730-4739, 2023. DOI: 10.1109/ACCESS.2022.3231130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0040" y="4475988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[10] Y. Farhan and A. Madi, "Real-Time Dynamic Sign Recognition Using MediaPipe," in Proc. IEEE ICECOCS, Fez, Morocco, 2022, pp. 1-7. DOI: 10.1109/ICECOCS55148.2022.9983273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90872" y="896112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[11] E. Rajalakshmi et al., "Multi-Semantic Discriminative Feature Learning for Sign Gesture Recognition," IEEE Access, vol. 11, pp. 2226-2238, 2023. DOI: 10.1109/ACCESS.2022.3233671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90872" y="1293876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[12] Z. Zhou, V. W. L. Toh, and E. Y. Lim, "SignBERT: A BERT-Based Deep Learning Framework for Continuous SLR," IEEE Access, vol. 9, pp. 161669-161682, 2021. DOI: 10.1109/ACCESS.2021.3132668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90872" y="1691640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[13] C. Lugaresi et al., "MediaPipe: A Framework for Perceiving and Processing Reality," in Proc. CVPR Workshop on CV for AR/VR, 2019.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90872" y="2089404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[14] S. Hochreiter and J. Schmidhuber, "Long Short-Term Memory," Neural Comput., vol. 9, no. 8, pp. 1735-1780, 1997. DOI: 10.1162/neco.1997.9.8.1735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90872" y="2487168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[15] J. Huang, J. Chaijaruwanich, and V. Chouvatut, "Video-Based Sign Language Recognition with R(2+1)D and LSTM Networks," in Proc. IEEE KST, 2024, pp. 214-219. DOI: 10.1109/KST61284.2024.10499589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90872" y="2884932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[16] G. Z. De Castro, R. R. Guerra, and F. G. Guimaraes, "Automatic Translation of Sign Language with Multi-Stream 3D CNN," Expert Syst. Appl., vol. 215, p. 119394, 2023. DOI: 10.1016/j.eswa.2022.119394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90872" y="3282696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[17] M. Bohacek and M. Hruz, "Sign Pose-Based Transformer for Word-Level Sign Language Recognition," in Proc. IEEE WACVW, 2022, pp. 182-191. DOI: 10.1109/WACVW54805.2022.00024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90872" y="3680460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[18] R. K. Pathan et al., "Sign Language Recognition using Fusion of Image and Hand Landmarks," Sci. Rep., vol. 13, 2023. DOI: 10.1038/s41598-023-43852-x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90872" y="4078224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[19] N. H. Dardas and N. D. Georganas, "Real-Time Hand Gesture Detection and Recognition Using Bag-of-Features and SVM," IEEE Trans. Instrum. Meas., vol. 60, no. 11, pp. 3592-3607, 2011. DOI: 10.1109/TIM.2011.2161140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90872" y="4475988"/>
            <a:ext cx="418795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[20] O. Mercanoglu, A. O. Tur, and H. Keles, "Isolated Sign Language Recognition with Multi-Scale Features using LSTM," in Proc. IEEE SIU, Sivas, Turkey, 2019, pp. 1-4. DOI: 10.1109/SIU.2019.8806314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All references are Scopus-indexed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0"/>
            <a:ext cx="2560320" cy="256032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1005840"/>
            <a:ext cx="2011680" cy="2011680"/>
          </a:xfrm>
          <a:prstGeom prst="ellipse">
            <a:avLst/>
          </a:prstGeom>
          <a:solidFill>
            <a:srgbClr val="0A9396">
              <a:alpha val="30000"/>
            </a:srgbClr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109728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✋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E9B00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029200" cy="27432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0048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E9B00"/>
                </a:solidFill>
              </a:rPr>
              <a:t>Key Achievement: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95.24% accuracy on 42 ASL classes
</a:t>
            </a:r>
            <a:pPr indent="0" marL="0">
              <a:buNone/>
            </a:pPr>
            <a:r>
              <a:rPr lang="en-US" sz="1200" b="1" dirty="0">
                <a:solidFill>
                  <a:srgbClr val="EE9B00"/>
                </a:solidFill>
              </a:rPr>
              <a:t>Architecture: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MediaPipe + LSTM + Cosine Similarity Tiebreaker
</a:t>
            </a:r>
            <a:pPr indent="0" marL="0">
              <a:buNone/>
            </a:pPr>
            <a:r>
              <a:rPr lang="en-US" sz="1200" b="1" dirty="0">
                <a:solidFill>
                  <a:srgbClr val="EE9B00"/>
                </a:solidFill>
              </a:rPr>
              <a:t>Key Contribution: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Face landmark removal (1,662→258-dim) eliminated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cross-class confusion — first offline bidirectional ASL 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9396">
              <a:alpha val="2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D2BD"/>
                </a:solidFill>
              </a:rPr>
              <a:t>Real-Time Bidirectional Sign Language Translator  |  Final Year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Bidirectional Sign Language Translator</dc:title>
  <dc:subject>PptxGenJS Presentation</dc:subject>
  <dc:creator>PptxGenJS</dc:creator>
  <cp:lastModifiedBy>PptxGenJS</cp:lastModifiedBy>
  <cp:revision>1</cp:revision>
  <dcterms:created xsi:type="dcterms:W3CDTF">2026-03-23T07:31:56Z</dcterms:created>
  <dcterms:modified xsi:type="dcterms:W3CDTF">2026-03-23T07:31:56Z</dcterms:modified>
</cp:coreProperties>
</file>